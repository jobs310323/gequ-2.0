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Тема нашей презентации — шесть принципов врачебной этики Евгения Сергеевича Боткина, лейб-медика семьи Николая II. Мы поговорим не только о его биографии, но и о том, как именно эти принципы проявлялись в его реальной врачебной практике. Сразу оговоримся: мы будем очень аккуратны с фактами — используем только проверяемые источники и нигде не будем додумывать цитаты или события.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Евгений Сергеевич Боткин родился в 1865 году в семье знаменитого врача Сергея Петровича Боткина — того самого, чьим именем названа болезнь Боткина и крупнейшая петербургская больница. Он получил военно-медицинское образование, преподавал в академии, а в 1904 году добровольцем ушёл на Русско-японскую войну — не по приказу, а по собственному решению. Именно военный и клинический опыт, а не только придворное происхождение, привёл его в 1908 году на пост лейб-медика семьи Николая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вообще фигура придворного врача интересна для истории медицинской этики? Дело не в близости ко двору, а в том, что его биография документирует, как врач вёл себя именно как врач — в клинике, на войне, в ссылке. Исследователи используют его случай, чтобы показать идею «доминанты интересов больного» — когда решения врача определяются нуждами пациента, а не удобством или статусом. При этом мы не идеализируем фигуру: историки по-разному оценивают мотивы его решений, и сегодня мы говорим именно о медицинской этике, а не о политике.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важный методологический слайд, и мы просим на него обратить особое внимание. В интернете часто пишут, что Боткин якобы сам сформулировал «шесть заповедей врача». Это не совсем так. У нас нет документа, который сам Боткин назвал бы этим именем. Шесть принципов — это результат работы более поздних исследователей истории медицины и биоэтики, которые анализировали его последнее письмо и воспоминания современников и на этой основе выделили повторяющиеся этические установки. Мы будем честно об этом говорить на каждом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принцип — отношение к профессии как к служению. Важно: у нас нет прямой цитаты Боткина именно с такой формулировкой — это обобщение, которое делают исследователи, глядя на то, как он вёл себя на практике. Самый показательный эпизод — Тобольск: человек под арестом, без придворного статуса и жалованья, тем не менее продолжает лечить людей и даже открывает бесплатный приём для города. Это не единичный поступок, а образ действия на протяжении многих лет — от фронта до ссылки.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принцип часто путают с призывом к героизму, но это не так. Речь не о том, что врач обязан рисковать собой, а о том, что тяжёлые обстоятельства не должны становиться готовым оправданием бездействия. Показательно, что в Тобольске Боткин лечил в том числе солдат, которые его же и стерегли — то есть помощь оказывалась независимо от того, в каких отношениях врач находился с конкретным человеком.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принцип легко упустить, потому что он не про громкие поступки, а про повседневную профессиональную культуру. У Боткина рядом с семьёй работал ещё один врач — Владимир Николаевич Деревенко, который отвечал за здоровье наследника Алексея. Известно, что оба доктора продолжали профессионально сотрудничать в ссылке — и это само по себе показательно: в условиях крайнего стресса конкуренция между врачами могла бы легко возникнуть, но свидетельств такого соперничества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Четвёртый принцип — справедливость. Обратите внимание: мы намеренно не приписываем Боткину современную формулировку равенства — в его время такого языка ещё не существовало. Но исторические факты говорят сами за себя: на фронте он лично работал с ранеными солдатами, а не только курировал офицерские госпитали, а в Тобольске принимал и знатных пациентов, и городскую бедноту, и даже солдат охраны — в одном и том же приёме.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единственный слайд, где мы приводим цитату целиком и дословно — потому что она документально подтверждена и происходит непосредственно из последнего письма Боткина. Он пишет, что пациенты в Тобольске пытались ему заплатить, но он, по его собственным словам, «следуя старому кодексу», денег не брал — тогда они отдавали деньги его кучеру. Подчеркну отдельно: мы не говорим, что современный врач должен работать бесплатно — это исторический контекст начала XX века, и сравнивать напрямую с сегодняшней системой здравоохранения некорректно.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Шестой принцип исследователи считают центральным, объединяющим все остальные, — верность врачебному долгу и то, что интересы пациента оказываются на первом месте. Это единственный случай, когда сам Боткин прямо формулирует цену такого выбора: в письме он пишет, что не поколебался оставить своих детей круглыми сиротами, чтобы исполнить врачебный долг до конца. Это очень личное и тяжёлое признание, и следующий слайд покажет, как это решение выглядело на практике.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— кульминация всей презентации. По данным «Российской газеты» за 2022 год, у Боткина было минимум три момента, когда он мог сохранить жизнь и свободу, но предпочёл остаться с пациентами. Первый — в 1917 году через Керенского, второй — в относительно свободном тобольском режиме, третий — уже непосредственно перед расстрелом в Екатеринбурге. Подчеркну: мы не даём этому единой религиозной или идеологической оценки — историки спорят о мотивах, и это нормально для исторической науки. Мы фиксируем факт с точки зрения истории врачебной этики: перед нами врач, который снова и снова выбирал оставаться с теми, за чьё здоровье отвечал.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Последний год жизни Боткина — это Тобольск, а затем Екатеринбург. В Тобольске режим был относительно мягким, и он успел открыть врачебную практику для города. В Екатеринбурге, в Ипатьевском доме, условия резко ужесточились. Важно понимать: для Боткина царская семья была прежде всего группой пациентов, требующих постоянного наблюдения, — особенно цесаревич Алексей с его тяжёлым заболеванием крови. Мы намеренно не даём здесь религиозной или политической оценки гибели семьи — это тема для другого разговора; нас интересует именно врачебная сторона этой истории.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Последнее письмо Боткина адресовано его брату Александру и датировано 26 июня по старому стилю — 9 июля по новому, то есть буквально за неделю до расстрела. Письмо осталось неотправленным и незаконченным — его нашли уже после гибели. Мы намеренно приводим только две короткие, документально подтверждённые цитаты и отдельно оговариваем, что вторая — это отсылка к Евангелию, а не собственные слова Боткина. Это принципиально: мы не хотим выдавать библейскую цитату за его личное высказывание.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мы сопоставляем идеи Боткина с современными формулировками биоэтики — но, что важно, не утверждаем прямой преемственности. Современная биоэтика с её принципами автономии, благодеяния, справедливости сформировалась в середине и второй половине XX века как отдельная научная дисциплина, в основном на Западе. Правильнее говорить о концептуальной перекличке: похожие ценности возникали независимо, потому что вытекают из самой природы врачебной профессии.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итог, не просто повторяя предыдущие слайды. Во-первых, медицина — это не только знания, но и профессиональная ответственность. Во-вторых, то, как врач относится к пациенту, — это часть качества медицинской помощи, а не что-то второстепенное. В-третьих, компетентность и этика неразрывны: нельзя быть хорошим врачом технически и одновременно безразличным к пациенту. В-четвёртых, интересы пациента должны учитываться при принятии клинических решений. И наконец, история показывает нам, откуда вообще взялись те профессиональные ценности, которые сегодня кажутся сами собой разумеющимися.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В качестве финальной точки мы намеренно повторяем ту же документально подтверждённую цитату из последнего письма — она, на наш взгляд, лучше любого вывода показывает, что для Боткина врачебный долг был не абстракцией, а конкретным, лично прожитым выбором.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перейти к выводам о том, откуда мы вообще взяли весь фактический материал — два слайда с источниками. Начнём с первичных: это письмо самого Боткина, его собственная книга о Русско-японской войне и воспоминания современников о последних полутора годах его жизни.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второй слайд источников — научные и институциональные публикации: статьи по истории медицины и биоэтике, материалы медицинских изданий, публикация «Российской газеты» с уточнёнными фактами биографии. Отдельно подчеркну: Википедию и готовые рефераты мы не использовали как доказательство фактов — только как отправную точку, после которой каждый факт перепроверялся по независимым публикациям. Если факт нигде, кроме непроверяемых источников, не подтверждался, мы его в презентацию не включали.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УЧЕБНАЯ ПРЕЗЕНТАЦИЯ · ИСТОРИЯ МЕДИЦИНЫ И БИОЭТИКА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принципов</a:t>
            </a:r>
            <a:endParaRPr lang="en-US" sz="36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врачебной этики</a:t>
            </a:r>
            <a:endParaRPr lang="en-US" sz="36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Евгения Сергеевича Боткина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История, врачебный долг и служение пациенту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1005840" cy="0"/>
          </a:xfrm>
          <a:prstGeom prst="line">
            <a:avLst/>
          </a:prstGeom>
          <a:noFill/>
          <a:ln w="25400">
            <a:solidFill>
              <a:srgbClr val="AC8A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646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Реконструкция этических принципов на основе врачебной биографии, последнего письма и свидетельств современников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35240" y="868680"/>
            <a:ext cx="3977640" cy="4343400"/>
          </a:xfrm>
          <a:prstGeom prst="roundRect">
            <a:avLst>
              <a:gd name="adj" fmla="val 1379"/>
            </a:avLst>
          </a:prstGeom>
          <a:solidFill>
            <a:srgbClr val="1B2C4F"/>
          </a:solidFill>
          <a:ln w="12700">
            <a:solidFill>
              <a:srgbClr val="3C4F7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909560" y="24368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C8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72948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Портрет Е. С. Боткина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3147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портрет (ок. 1908 г.); при печати указать архив/источник изображения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5440680"/>
            <a:ext cx="3977640" cy="1097280"/>
          </a:xfrm>
          <a:prstGeom prst="roundRect">
            <a:avLst>
              <a:gd name="adj" fmla="val 4167"/>
            </a:avLst>
          </a:prstGeom>
          <a:solidFill>
            <a:srgbClr val="1B2C4F"/>
          </a:solidFill>
          <a:ln w="9525">
            <a:solidFill>
              <a:srgbClr val="3345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0" y="5532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Выполнили:
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Студентки группы 521-07
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Стоматология ортопедическая
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Праскина Дарья Андреевна
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Борисова Софья Игоревна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· ЧЕЛОВЕК И ВРАЧ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 по призванию и по судьбе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мая 1865 — родился в семье выдающегося клинициста С. П. Боткина, лейб-медика Александра II и Александра III; расстрелян в ночь на 17 июля 1918 г.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Окончил Императорскую военно-медицинскую академию в Санкт-Петербурге; с 1897 г. — приват-доцент академии.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1904–1905 — доброволец на Русско-японской войне, возглавлял медицинскую часть Российского Красного Креста в действующей армии, лично оказывал помощь раненым на передовой.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1905 — почётный лейб-медик императорского двора; с апреля 1908 г., по просьбе императрицы Александры Фёдоровны, — лейб-медик семьи Николая II.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1917–1918 — последовал за царской семьёй в ссылку: Тобольск, затем Екатеринбург.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840480" cy="2834640"/>
          </a:xfrm>
          <a:prstGeom prst="roundRect">
            <a:avLst>
              <a:gd name="adj" fmla="val 1935"/>
            </a:avLst>
          </a:prstGeom>
          <a:solidFill>
            <a:srgbClr val="FAF7EF"/>
          </a:solidFill>
          <a:ln w="12700">
            <a:solidFill>
              <a:srgbClr val="CFC6A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046720" y="2596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9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28895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Е. С. Боткин, фотография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периода службы лейб-медиком (1908–1917 гг.)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0" y="5029200"/>
            <a:ext cx="3840480" cy="0"/>
          </a:xfrm>
          <a:prstGeom prst="line">
            <a:avLst/>
          </a:prstGeom>
          <a:noFill/>
          <a:ln w="19050">
            <a:solidFill>
              <a:srgbClr val="D9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4983480"/>
            <a:ext cx="91440" cy="91440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60920" y="5138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5394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рождение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86800" y="4983480"/>
            <a:ext cx="91440" cy="91440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5138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1889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5394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оконч. акад.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46920" y="4983480"/>
            <a:ext cx="91440" cy="91440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81160" y="5138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5394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война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607040" y="4983480"/>
            <a:ext cx="91440" cy="91440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0" y="5138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1908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5394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лейб-медик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567160" y="4983480"/>
            <a:ext cx="91440" cy="91440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201400" y="5138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109960" y="5394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гибель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«Медицинский совет», раздел «Личности в профессии»; Городской центр общественного здоровья и медицинской профилактики (материал к 150-летию Е. С. Боткина); Е. С. Боткин, «Свет и тени русско-японской войны 1904–5 гг. Из писем к жене», СПб., 1908.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· ЧЕЛОВЕК И ВРАЧ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Врач, а не только придворный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полкового врача до лейб-медика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Боткин прошёл путь от военного врача на фронте до личного врача императорской семьи — пример последовательной профессиональной карьеры внутри одной этической традиции.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48840"/>
            <a:ext cx="502920" cy="50292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«Доминанта интересов больного»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историко-медицинских и биоэтических публикациях его фигура рассматривается как пример такого построения отношений «врач — пациент», где интересы больного признаются определяющими.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48840"/>
            <a:ext cx="502920" cy="50292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Поведение врача в кризисе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Особое внимание исследователей — к тому, как он вёл себя именно как врач в экстремальных условиях 1917–1918 годов: аресте, ссылке, лишении обычных профессиональных полномочий.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оговорка: оценки личности Боткина в историографии неоднозначны. Здесь мы намеренно сосредоточены на его врачебной практике и профессиональной этике, а не на политических или религиозных трактовках его биографии.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53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«Е. С. Боткин: морально-этические аспекты врачевания» // Молодой учёный; публикации по биоэтике (кафедра биомедицинской этики РНИМУ им. Н. И. Пирогова).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· КАК УСТРОЕНА ЭТА РЕКОНСТРУКЦИЯ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кодекс, а реконструкция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1E9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3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«Шесть принципов врачебной этики Е. С. Боткина» 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3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это не официальный документ, написанный самим Боткиным, а этические установки, которые исследователи выделяют при анализе его последнего письма и описаний его врачебной деятельности.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документы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(письма, воспоминания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современников)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50208" y="4288536"/>
            <a:ext cx="557784" cy="292608"/>
          </a:xfrm>
          <a:prstGeom prst="rightArrow">
            <a:avLst/>
          </a:prstGeom>
          <a:solidFill>
            <a:srgbClr val="AC8A4E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37033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37033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исследователей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(история медицины,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биоэтика)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27848" y="4288536"/>
            <a:ext cx="557784" cy="292608"/>
          </a:xfrm>
          <a:prstGeom prst="rightArrow">
            <a:avLst/>
          </a:prstGeom>
          <a:solidFill>
            <a:srgbClr val="AC8A4E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37033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2203C"/>
          </a:solidFill>
          <a:ln w="12700">
            <a:solidFill>
              <a:srgbClr val="1220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37033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этических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принципов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реконструкции — прежде всего последнее письмо Боткина и опубликованные воспоминания современников.</a:t>
            </a:r>
            <a:endParaRPr lang="en-US" sz="1250" dirty="0"/>
          </a:p>
          <a:p>
            <a:pPr algn="l" marL="228600" indent="-2286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 мы всегда различаем: что писал сам Боткин; что известно из воспоминаний современников; что является современной научной интерпретацией.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1 ИЗ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Врачебное дело как служение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Отношение к врачебному делу как к служению — с полной отдачей своих сил, не по обязанности, а по призванию.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ОЗНАЧАЕТ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Профессия требует не только рабочих часов, но и личных сил, времени и внимания — независимо от того, вознаграждается это или замечается кем-либо.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5971032" cy="3840480"/>
          </a:xfrm>
          <a:prstGeom prst="roundRect">
            <a:avLst>
              <a:gd name="adj" fmla="val 1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ЭПИЗОД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450592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Находясь под арестом в тобольской ссылке (1917–1918), лишённый прежнего придворного положения, Боткин не прекратил врачебную деятельность: он продолжал наблюдать за здоровьем семьи Николая II и вести приём городских жителей, открыв в Тобольске бесплатную практику.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5074920"/>
            <a:ext cx="5349240" cy="0"/>
          </a:xfrm>
          <a:prstGeom prst="line">
            <a:avLst/>
          </a:prstGeom>
          <a:noFill/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5166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историко-биографическим публикациям о тобольском периоде (см. слайды источников).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053328"/>
            <a:ext cx="146304" cy="146304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9893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 сегодня: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профессиональной отдачи и добросовестности остаётся основой врачебной этики и профессиональных кодексов сегодня.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2 ИЗ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Помощь несмотря на обстоятельства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Оказание помощи несмотря на неблагоприятные условия — без того, чтобы обстоятельства становились поводом для бездействия.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ОЗНАЧАЕТ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 не о безрассудном риске и не о геройстве ради геройства, а об отказе считать трудные условия удобным оправданием для отказа в помощи.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5971032" cy="3840480"/>
          </a:xfrm>
          <a:prstGeom prst="roundRect">
            <a:avLst>
              <a:gd name="adj" fmla="val 1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ЭПИЗОД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450592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Тобольске, находясь фактически в статусе ссыльного, без прежних служебных полномочий, в условиях Гражданской войны и общей разрухи, Боткин открыл бесплатный приём для местных жителей — и даже для солдат охраны, то есть людей, стороживших его и царскую семью.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5074920"/>
            <a:ext cx="5349240" cy="0"/>
          </a:xfrm>
          <a:prstGeom prst="line">
            <a:avLst/>
          </a:prstGeom>
          <a:noFill/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5166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«Российская газета» (15.07.2022); «Милосердие.ru».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053328"/>
            <a:ext cx="146304" cy="146304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9893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 сегодня: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особенно значим для медицины в кризисных условиях — эпидемий, военных конфликтов, дефицита ресурсов, — где сложные обстоятельства нередко становятся оправданием бездействия.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3 ИЗ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Уважение к коллегам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Уважительное профессиональное отношение к другим врачам — без демонстрации собственного превосходства.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ОЗНАЧАЕТ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Боткина профессионализм не требовал самоутверждения за счёт коллег: помощь пациенту оставалась общим делом врачей, а не полем конкуренции.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5971032" cy="3840480"/>
          </a:xfrm>
          <a:prstGeom prst="roundRect">
            <a:avLst>
              <a:gd name="adj" fmla="val 1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ЭПИЗОД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450592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тобольский период Боткин продолжал профессионально взаимодействовать с земским и военным врачом В. Н. Деревенко, который наблюдал за здоровьем цесаревича Алексея. Оба врача работали в одних и тех же трудных условиях ссылки, дополняя, а не вытесняя друг друга.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5074920"/>
            <a:ext cx="5349240" cy="0"/>
          </a:xfrm>
          <a:prstGeom prst="line">
            <a:avLst/>
          </a:prstGeom>
          <a:noFill/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5166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биографических сведений о медицинском сопровождении семьи Николая II в 1917–1918 гг.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053328"/>
            <a:ext cx="146304" cy="146304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9893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 сегодня: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Взаимное профессиональное уважение и слаженная работа врачей — необходимое условие качества и безопасности медицинской помощи и сегодня.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4 ИЗ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Справедливость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Одинаковое отношение к пациентам независимо от их социального положения, происхождения или статуса.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ОЗНАЧАЕТ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 качество врачебной помощи не должны зависеть от того, кем является пациент — офицером или рядовым, знатным лицом или горожанином.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5971032" cy="3840480"/>
          </a:xfrm>
          <a:prstGeom prst="roundRect">
            <a:avLst>
              <a:gd name="adj" fmla="val 1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ЭПИЗОД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450592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Русско-японской войне (1904–1905) Боткин возглавлял медицинскую часть Красного Креста в действующей армии и лично оказывал помощь раненым на передовой. В Тобольске он вёл приём и для членов царской семьи, и для городской бедноты, и для солдат охраны.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5074920"/>
            <a:ext cx="5349240" cy="0"/>
          </a:xfrm>
          <a:prstGeom prst="line">
            <a:avLst/>
          </a:prstGeom>
          <a:noFill/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5166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Е. С. Боткин, «Свет и тени русско-японской войны 1904–5 гг.», 1908; историко-биографические публикации о тобольском периоде.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053328"/>
            <a:ext cx="146304" cy="146304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9893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 сегодня: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Справедливость — один из базовых принципов современной биоэтики: доступ к медицинской помощи не должен зависеть от социального статуса пациента.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5 ИЗ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Бескорыстие и безвозмездное служение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Отказ от платы за оказанную помощь — как осознанный этический выбор, а не как невозможность её принять.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ОЗНАЧАЕТ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начале XX века плата за частный приём была нормой врачебной практики. Отказ от неё был сознательным следованием профессиональной традиции, а не бедностью или обстоятельствами.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5971032" cy="3840480"/>
          </a:xfrm>
          <a:prstGeom prst="roundRect">
            <a:avLst>
              <a:gd name="adj" fmla="val 1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ЦИТАТА ИЗ ПИСЬМА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450592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«Они постоянно старались заплатить, но так как я, следуя нашему старому кодексу, разумеется, ничего от них не брал, пока я был занят в избе с больными, они спешили отдать деньги моему кучеру».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5074920"/>
            <a:ext cx="5349240" cy="0"/>
          </a:xfrm>
          <a:prstGeom prst="line">
            <a:avLst/>
          </a:prstGeom>
          <a:noFill/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5166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письма Е. С. Боткина, Екатеринбург, 26 июня / 9 июля 1918 г. (о его тобольской врачебной практике).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053328"/>
            <a:ext cx="146304" cy="146304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9893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 сегодня: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призыв к бесплатной медицине сегодня — исторический пример нужно рассматривать в контексте своего времени. Но он иллюстрирует идею служения, не сводимого к вознаграждению.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6 ИЗ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Верность врачебному долгу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Верность врачебному долгу — с доминантой интересов пациента над собственными интересами и удобствами.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ОЗНАЧАЕТ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Обязательства перед пациентом сохраняют силу даже тогда, когда их исполнение требует личных жертв — это шестой и, по мнению исследователей, центральный принцип.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5971032" cy="3840480"/>
          </a:xfrm>
          <a:prstGeom prst="roundRect">
            <a:avLst>
              <a:gd name="adj" fmla="val 1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ЦИТАТА ИЗ ПИСЬМА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450592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«…я не поколебался покинуть своих детей круглыми сиротами, чтобы исполнить свой врачебный долг до конца».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5074920"/>
            <a:ext cx="5349240" cy="0"/>
          </a:xfrm>
          <a:prstGeom prst="line">
            <a:avLst/>
          </a:prstGeom>
          <a:noFill/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5166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письма Е. С. Боткина брату, А. С. Боткину, Екатеринбург, 26 июня / 9 июля 1918 г.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053328"/>
            <a:ext cx="146304" cy="146304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9893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 сегодня: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Понятие профессионального долга как обязательства, не зависящего от личных обстоятельств, остаётся частью современной медицинской этики.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6 ИЗ 6 · КУЛЬМИНАЦИЯ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607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Верность до конца: три отказа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данным ряда публикаций (в частности — «Российской газеты», 2022), у Боткина было по меньшей мере три задокументированных случая, когда он мог оставить царскую семью и сохранить свободу, но предпочёл остаться.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15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AC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1917, Петроград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6974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А. Ф. Керенского Боткин мог остаться на свободе, но добился права вернуться под арест — к своим пациентам.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502920" cy="502920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AC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1917–1918, Тобольск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77647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Находясь в относительно свободном режиме, он не воспользовался возможностью уехать и остался с семьёй в ссылке.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502920" cy="502920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AC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Июль 1918, Екатеринбург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855464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Незадолго до расстрела, по свидетельствам, у Боткина оставалась возможность покинуть Ипатьевский дом; он остался.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74243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B2C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81558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рассматриваем это решение с точки зрения истории медицины и врачебной этики, а не как религиозную или политическую оценку. Историки по-разному интерпретируют мотивы Боткина — как смесь профессионального долга, личной привязанности к пациентам и собственных убеждений; однозначная реконструкция мотивов невозможна.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A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 · ПОСЛЕДНИЙ ГОД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Тобольск — Екатеринбург: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последний год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 1917 — апрель 1918, Тобольск: ссылка, ограничение свободы, но продолжение врачебной практики и приёма горожан.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Май–июль 1918, Екатеринбург: заключение в Ипатьевском доме, ужесточение режима содержания.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Боткин относился к членам царской семьи прежде всего как к пациентам, нуждающимся в постоянном медицинском наблюдении — в первую очередь к цесаревичу Алексею, страдавшему гемофилией.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ночь на 17 июля 1918 г. расстрелян вместе с семьёй Николая II и другими приближёнными в подвале Ипатьевского дома.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8686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B2C4F"/>
          </a:solidFill>
          <a:ln w="12700">
            <a:solidFill>
              <a:srgbClr val="3C4F7A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909560" y="20253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C8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31800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Тобольск / Ипатьевский дом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9032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историческое фото места ссылки (1917–1918 гг.), с указанием источника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B2C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55046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Последующие религиозные и политические трактовки этого события выходят за рамки истории медицины и подробно в этой презентации не рассматриваются.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63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pPr algn="l" indent="0" marL="0">
              <a:buNone/>
            </a:pPr>
            <a:r>
              <a:rPr lang="en-US" sz="1050" i="1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Историко-биографические публикации о тобольском и екатеринбургском периодах (см. слайды источников).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 · ПОСЛЕДНИЙ ГОД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Последнее письмо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Кому: брату, Александру Сергеевичу Боткину.</a:t>
            </a:r>
            <a:endParaRPr lang="en-US" sz="1250" dirty="0"/>
          </a:p>
          <a:p>
            <a:pPr algn="l" marL="228600" indent="-228600"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 датировано 26 июня / 9 июля 1918 г. — менее чем за три недели до гибели.</a:t>
            </a:r>
            <a:endParaRPr lang="en-US" sz="1250" dirty="0"/>
          </a:p>
          <a:p>
            <a:pPr algn="l" marL="228600" indent="-228600"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Обстоятельства: письмо осталось неотправленным и незаконченным; обнаружено уже после расстрела.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письмо: понимание врачебного долга как обязательства, сохраняющего силу вне зависимости от личных обстоятельств и личной цены.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40680" y="1783080"/>
            <a:ext cx="6172200" cy="4297680"/>
          </a:xfrm>
          <a:prstGeom prst="roundRect">
            <a:avLst>
              <a:gd name="adj" fmla="val 851"/>
            </a:avLst>
          </a:prstGeom>
          <a:solidFill>
            <a:srgbClr val="FBF8F0"/>
          </a:solidFill>
          <a:ln w="12700">
            <a:solidFill>
              <a:srgbClr val="DCD3B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35640" y="2057400"/>
            <a:ext cx="502920" cy="502920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835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2103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ПИСЬМА Е. С. БОТКИНА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51460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3A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«…следуя нашему старому кодексу, разумеется, ничего от них не брал…»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06440" y="3657600"/>
            <a:ext cx="5440680" cy="0"/>
          </a:xfrm>
          <a:prstGeom prst="line">
            <a:avLst/>
          </a:prstGeom>
          <a:noFill/>
          <a:ln w="9525">
            <a:solidFill>
              <a:srgbClr val="DCD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384048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3A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«Меня поддерживает убеждение, что “претерпевший до конца, тот спасётся”».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48463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евангельская цитата (Мф. 24:13), которую Боткин приводит в письме, — не его собственные слова, а отсылка к Священному Писанию.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56235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Екатеринбург, 26 июня / 9 июля 1918 г.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 · СВЯЗЬ С СОВРЕМЕННОСТЬЮ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Отклики в современной медицинской этике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56616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Идеи Боткина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Современная медицинская этика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Интересы пациента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Благо пациента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Врачебный долг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Профессиональная ответственность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Справедливость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Принцип справедливости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Уважение к пациенту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Уважение достоинства и автономии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Уважение к коллегам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Профессиональная этика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Бескорыстие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Принцип служения пациенту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 идёт о концептуальных перекличках, а не о прямой исторической преемственности: современная биоэтика формировалась как самостоятельная научная и институциональная традиция во второй половине XX века.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5 · ИТОГИ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эти принципы актуальны сегодня?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75488" cy="475488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74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 требует не только знаний, но и профессиональной ответственности.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475488" cy="475488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157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врача к пациенту — часть качества медицинской помощи, а не только сопутствующий фактор.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475488" cy="475488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5701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Профессиональная компетентность и врачебная этика неразрывно связаны между собой.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475488" cy="475488"/>
          </a:xfrm>
          <a:prstGeom prst="ellipse">
            <a:avLst/>
          </a:prstGeom>
          <a:solidFill>
            <a:srgbClr val="6E2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826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Интересы пациента должны учитываться при принятии клинических решений.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475488" cy="475488"/>
          </a:xfrm>
          <a:prstGeom prst="ellipse">
            <a:avLst/>
          </a:prstGeom>
          <a:solidFill>
            <a:srgbClr val="1220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3951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примеры помогают понять происхождение профессиональных ценностей, которые сегодня нередко воспринимаются как самоочевидные.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592928" y="3429000"/>
            <a:ext cx="1005840" cy="0"/>
          </a:xfrm>
          <a:prstGeom prst="line">
            <a:avLst/>
          </a:prstGeom>
          <a:noFill/>
          <a:ln w="25400">
            <a:solidFill>
              <a:srgbClr val="AC8A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45920" y="370332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«…я не поколебался покинуть своих детей круглыми сиротами,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чтобы исполнить свой врачебный долг до конца»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7091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Е. С. Боткин, из последнего письма, Екатеринбург, июль 1918 г.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· 1 ИЗ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Первичные источники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Письмо Е. С. Боткина брату, А. С. Боткину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585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Екатеринбург, датировано 26 июня / 9 июля 1918 г. Неотправленное, незаконченное письмо; цитируется по историко-биографическим публикациям о последних днях семьи Николая II.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Е. С. Боткин. «Свет и тени русско-японской войны 1904–5 гг. Из писем к жене»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844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СПб., 1908. Собрание писем и наблюдений военного врача с фронта Русско-японской войны.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AC8A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Воспоминания современников и материалы о медицинском сопровождении семьи Николая II (1917–1918)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9103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Свидетельства о тобольском и екатеринбургском периодах, включая сведения о свободной врачебной практике в Тобольске.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стремились приводить только те цитаты и факты, для которых можно указать конкретный источник; спорные и непроверяемые сведения из презентации исключены.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6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· 2 ИЗ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Научные публикации и институциональные источники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«Е. С. Боткин: морально-этические аспекты врачевания» // Молодой учёный.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«Медицинский совет», раздел «Личности в профессии»: материал о жизни и деятельности Е. С. Боткина.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Городской центр общественного здоровья и медицинской профилактики: материал к 150-летию Е. С. Боткина.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Публикации кафедры биомедицинской этики РНИМУ им. Н. И. Пирогова — о феномене «врачей-подвижников» в истории российской медицины.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«Российская газета», 15.07.2022. «Трижды отказавшийся отрекаться. Что ещё мы не знали о Евгении Боткине...».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1E9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Википедия и готовые школьные рефераты не используются как источник фактов — они применялись только для первичной ориентировки и последующей перепроверки по независимым публикациям.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Шесть принципов врачебной этики Е. С. Боткина</dc:title>
  <dc:subject>PptxGenJS Presentation</dc:subject>
  <dc:creator>Праскина Д. А., Борисова С. И.</dc:creator>
  <cp:lastModifiedBy>Праскина Д. А., Борисова С. И.</cp:lastModifiedBy>
  <cp:revision>1</cp:revision>
  <dcterms:created xsi:type="dcterms:W3CDTF">2026-09-05T13:22:46Z</dcterms:created>
  <dcterms:modified xsi:type="dcterms:W3CDTF">2026-09-05T13:22:46Z</dcterms:modified>
</cp:coreProperties>
</file>